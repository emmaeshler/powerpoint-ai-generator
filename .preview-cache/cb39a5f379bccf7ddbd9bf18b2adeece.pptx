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 Are Profitable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coffee market dynamics reveal strong margin potential across the value 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155680" cy="1371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745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223558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 Drivers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786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14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$495B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Size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9900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2027 (CAGR 5.5%)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4930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429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35–55%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7490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Roasted Bean Margin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9044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gross margin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4074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343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46634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Premium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48188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commodity pricing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3218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257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2.25B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55778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Consumption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57332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cups consumed globally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0" y="187452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223558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8912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 Margin Analysis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25603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 / Growing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2779776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0" y="2779776"/>
            <a:ext cx="351130" cy="256032"/>
          </a:xfrm>
          <a:prstGeom prst="roundRect">
            <a:avLst>
              <a:gd name="adj" fmla="val 17857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4877410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0" y="33101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/ Export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89120" y="3529584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4389120" y="3529584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5111496" y="35112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89120" y="40599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Roasting / Branding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89120" y="4279392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0" y="42793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ECC71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4261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35–55%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48097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Retail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89120" y="502920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45" name="Shape 43"/>
          <p:cNvSpPr/>
          <p:nvPr/>
        </p:nvSpPr>
        <p:spPr>
          <a:xfrm>
            <a:off x="4389120" y="5029200"/>
            <a:ext cx="2048256" cy="256032"/>
          </a:xfrm>
          <a:prstGeom prst="roundRect">
            <a:avLst>
              <a:gd name="adj" fmla="val 17857"/>
            </a:avLst>
          </a:prstGeom>
          <a:solidFill>
            <a:srgbClr val="27AE60"/>
          </a:solidFill>
          <a:ln/>
        </p:spPr>
      </p:sp>
      <p:sp>
        <p:nvSpPr>
          <p:cNvPr id="46" name="Text 44"/>
          <p:cNvSpPr/>
          <p:nvPr/>
        </p:nvSpPr>
        <p:spPr>
          <a:xfrm>
            <a:off x="6574536" y="5010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55–80%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89120" y="5559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/ Prepared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89120" y="5779008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49" name="Shape 47"/>
          <p:cNvSpPr/>
          <p:nvPr/>
        </p:nvSpPr>
        <p:spPr>
          <a:xfrm>
            <a:off x="4389120" y="5779008"/>
            <a:ext cx="2487168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0" name="Text 48"/>
          <p:cNvSpPr/>
          <p:nvPr/>
        </p:nvSpPr>
        <p:spPr>
          <a:xfrm>
            <a:off x="7013448" y="5760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70–90%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389120" y="5715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Highest margins in downstream activities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458200" y="1874520"/>
            <a:ext cx="3200400" cy="4206240"/>
          </a:xfrm>
          <a:prstGeom prst="roundRect">
            <a:avLst>
              <a:gd name="adj" fmla="val 2857"/>
            </a:avLst>
          </a:prstGeom>
          <a:solidFill>
            <a:srgbClr val="223558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6868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Takeaways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641080" y="24871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55" name="Text 53"/>
          <p:cNvSpPr/>
          <p:nvPr/>
        </p:nvSpPr>
        <p:spPr>
          <a:xfrm>
            <a:off x="8732520" y="25328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98280" y="25328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 &amp; Brand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098280" y="27614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beyond raw bean sales — roasting and branding capture 3–5× the margin of raw exports.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641080" y="34015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59" name="Text 57"/>
          <p:cNvSpPr/>
          <p:nvPr/>
        </p:nvSpPr>
        <p:spPr>
          <a:xfrm>
            <a:off x="8732520" y="34472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098280" y="34472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Shift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098280" y="3675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coffee commands 200%+ premiums. Consumer willingness to pay continues to grow.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641080" y="43159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63" name="Text 61"/>
          <p:cNvSpPr/>
          <p:nvPr/>
        </p:nvSpPr>
        <p:spPr>
          <a:xfrm>
            <a:off x="8732520" y="4361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98280" y="4361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Integration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098280" y="45902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Farm-to-cup models reduce intermediary costs and create defensible brand equity.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641080" y="52303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67" name="Text 65"/>
          <p:cNvSpPr/>
          <p:nvPr/>
        </p:nvSpPr>
        <p:spPr>
          <a:xfrm>
            <a:off x="8732520" y="52760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098280" y="52760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Premium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098280" y="55046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Fair-trade and organic certifications unlock 15–30% price premiums with growing demand.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2035"/>
          </a:solidFill>
          <a:ln/>
        </p:spPr>
      </p:sp>
      <p:sp>
        <p:nvSpPr>
          <p:cNvPr id="71" name="Text 69"/>
          <p:cNvSpPr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|  Market Analysis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400800" y="6446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ICO, IBISWorld, Statista, McKinsey  •  2024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2026-04-03T21:52:48Z</dcterms:created>
  <dcterms:modified xsi:type="dcterms:W3CDTF">2026-04-03T21:52:48Z</dcterms:modified>
</cp:coreProperties>
</file>