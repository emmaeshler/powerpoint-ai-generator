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Beans Are Profitable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coffee market dynamics reveal strong margin potential across the value chain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11155680" cy="1371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87452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223558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011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Profitability Drivers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2926080" cy="749808"/>
          </a:xfrm>
          <a:prstGeom prst="roundRect">
            <a:avLst>
              <a:gd name="adj" fmla="val 8537"/>
            </a:avLst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578608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5146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$495B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28346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Market Size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9900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2027 (CAGR 5.5%)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3383280"/>
            <a:ext cx="2926080" cy="749808"/>
          </a:xfrm>
          <a:prstGeom prst="roundRect">
            <a:avLst>
              <a:gd name="adj" fmla="val 8537"/>
            </a:avLst>
          </a:prstGeom>
          <a:solidFill>
            <a:srgbClr val="1B2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493008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429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35–55%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37490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Roasted Bean Margin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9044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gross margin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1520" y="4297680"/>
            <a:ext cx="2926080" cy="749808"/>
          </a:xfrm>
          <a:prstGeom prst="roundRect">
            <a:avLst>
              <a:gd name="adj" fmla="val 8537"/>
            </a:avLst>
          </a:prstGeom>
          <a:solidFill>
            <a:srgbClr val="1B2A4A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407408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343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+200%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0120" y="46634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Premium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48188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commodity pricing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31520" y="5212080"/>
            <a:ext cx="2926080" cy="749808"/>
          </a:xfrm>
          <a:prstGeom prst="roundRect">
            <a:avLst>
              <a:gd name="adj" fmla="val 8537"/>
            </a:avLst>
          </a:prstGeom>
          <a:solidFill>
            <a:srgbClr val="1B2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5321808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257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2.25B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60120" y="55778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Consumption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57332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cups consumed globally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0" y="187452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223558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389120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Chain Margin Analysis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389120" y="25603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Farming / Growing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89120" y="2779776"/>
            <a:ext cx="2926080" cy="256032"/>
          </a:xfrm>
          <a:prstGeom prst="roundRect">
            <a:avLst>
              <a:gd name="adj" fmla="val 17857"/>
            </a:avLst>
          </a:prstGeom>
          <a:solidFill>
            <a:srgbClr val="1B2A4A"/>
          </a:solidFill>
          <a:ln/>
        </p:spPr>
      </p:sp>
      <p:sp>
        <p:nvSpPr>
          <p:cNvPr id="33" name="Shape 31"/>
          <p:cNvSpPr/>
          <p:nvPr/>
        </p:nvSpPr>
        <p:spPr>
          <a:xfrm>
            <a:off x="4389120" y="2779776"/>
            <a:ext cx="351130" cy="256032"/>
          </a:xfrm>
          <a:prstGeom prst="roundRect">
            <a:avLst>
              <a:gd name="adj" fmla="val 17857"/>
            </a:avLst>
          </a:prstGeom>
          <a:solidFill>
            <a:srgbClr val="E74C3C"/>
          </a:solidFill>
          <a:ln/>
        </p:spPr>
      </p:sp>
      <p:sp>
        <p:nvSpPr>
          <p:cNvPr id="34" name="Text 32"/>
          <p:cNvSpPr/>
          <p:nvPr/>
        </p:nvSpPr>
        <p:spPr>
          <a:xfrm>
            <a:off x="4877410" y="27614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10–15%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89120" y="33101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/ Export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89120" y="3529584"/>
            <a:ext cx="2926080" cy="256032"/>
          </a:xfrm>
          <a:prstGeom prst="roundRect">
            <a:avLst>
              <a:gd name="adj" fmla="val 17857"/>
            </a:avLst>
          </a:prstGeom>
          <a:solidFill>
            <a:srgbClr val="1B2A4A"/>
          </a:solidFill>
          <a:ln/>
        </p:spPr>
      </p:sp>
      <p:sp>
        <p:nvSpPr>
          <p:cNvPr id="37" name="Shape 35"/>
          <p:cNvSpPr/>
          <p:nvPr/>
        </p:nvSpPr>
        <p:spPr>
          <a:xfrm>
            <a:off x="4389120" y="3529584"/>
            <a:ext cx="585216" cy="256032"/>
          </a:xfrm>
          <a:prstGeom prst="roundRect">
            <a:avLst>
              <a:gd name="adj" fmla="val 17857"/>
            </a:avLst>
          </a:prstGeom>
          <a:solidFill>
            <a:srgbClr val="E67E22"/>
          </a:solidFill>
          <a:ln/>
        </p:spPr>
      </p:sp>
      <p:sp>
        <p:nvSpPr>
          <p:cNvPr id="38" name="Text 36"/>
          <p:cNvSpPr/>
          <p:nvPr/>
        </p:nvSpPr>
        <p:spPr>
          <a:xfrm>
            <a:off x="5111496" y="35112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15–25%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389120" y="40599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Roasting / Branding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89120" y="4279392"/>
            <a:ext cx="2926080" cy="256032"/>
          </a:xfrm>
          <a:prstGeom prst="roundRect">
            <a:avLst>
              <a:gd name="adj" fmla="val 17857"/>
            </a:avLst>
          </a:prstGeom>
          <a:solidFill>
            <a:srgbClr val="1B2A4A"/>
          </a:solidFill>
          <a:ln/>
        </p:spPr>
      </p:sp>
      <p:sp>
        <p:nvSpPr>
          <p:cNvPr id="41" name="Shape 39"/>
          <p:cNvSpPr/>
          <p:nvPr/>
        </p:nvSpPr>
        <p:spPr>
          <a:xfrm>
            <a:off x="4389120" y="4279392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2ECC71"/>
          </a:solidFill>
          <a:ln/>
        </p:spPr>
      </p:sp>
      <p:sp>
        <p:nvSpPr>
          <p:cNvPr id="42" name="Text 40"/>
          <p:cNvSpPr/>
          <p:nvPr/>
        </p:nvSpPr>
        <p:spPr>
          <a:xfrm>
            <a:off x="5989320" y="4261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35–55%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389120" y="480974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Retail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89120" y="5029200"/>
            <a:ext cx="2926080" cy="256032"/>
          </a:xfrm>
          <a:prstGeom prst="roundRect">
            <a:avLst>
              <a:gd name="adj" fmla="val 17857"/>
            </a:avLst>
          </a:prstGeom>
          <a:solidFill>
            <a:srgbClr val="1B2A4A"/>
          </a:solidFill>
          <a:ln/>
        </p:spPr>
      </p:sp>
      <p:sp>
        <p:nvSpPr>
          <p:cNvPr id="45" name="Shape 43"/>
          <p:cNvSpPr/>
          <p:nvPr/>
        </p:nvSpPr>
        <p:spPr>
          <a:xfrm>
            <a:off x="4389120" y="5029200"/>
            <a:ext cx="2048256" cy="256032"/>
          </a:xfrm>
          <a:prstGeom prst="roundRect">
            <a:avLst>
              <a:gd name="adj" fmla="val 17857"/>
            </a:avLst>
          </a:prstGeom>
          <a:solidFill>
            <a:srgbClr val="27AE60"/>
          </a:solidFill>
          <a:ln/>
        </p:spPr>
      </p:sp>
      <p:sp>
        <p:nvSpPr>
          <p:cNvPr id="46" name="Text 44"/>
          <p:cNvSpPr/>
          <p:nvPr/>
        </p:nvSpPr>
        <p:spPr>
          <a:xfrm>
            <a:off x="6574536" y="5010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55–80%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389120" y="55595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Café / Prepared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389120" y="5779008"/>
            <a:ext cx="2926080" cy="256032"/>
          </a:xfrm>
          <a:prstGeom prst="roundRect">
            <a:avLst>
              <a:gd name="adj" fmla="val 17857"/>
            </a:avLst>
          </a:prstGeom>
          <a:solidFill>
            <a:srgbClr val="1B2A4A"/>
          </a:solidFill>
          <a:ln/>
        </p:spPr>
      </p:sp>
      <p:sp>
        <p:nvSpPr>
          <p:cNvPr id="49" name="Shape 47"/>
          <p:cNvSpPr/>
          <p:nvPr/>
        </p:nvSpPr>
        <p:spPr>
          <a:xfrm>
            <a:off x="4389120" y="5779008"/>
            <a:ext cx="2487168" cy="256032"/>
          </a:xfrm>
          <a:prstGeom prst="roundRect">
            <a:avLst>
              <a:gd name="adj" fmla="val 17857"/>
            </a:avLst>
          </a:prstGeom>
          <a:solidFill>
            <a:srgbClr val="4A90D9"/>
          </a:solidFill>
          <a:ln/>
        </p:spPr>
      </p:sp>
      <p:sp>
        <p:nvSpPr>
          <p:cNvPr id="50" name="Text 48"/>
          <p:cNvSpPr/>
          <p:nvPr/>
        </p:nvSpPr>
        <p:spPr>
          <a:xfrm>
            <a:off x="7013448" y="5760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70–90%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389120" y="57150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 Highest margins in downstream activities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458200" y="1874520"/>
            <a:ext cx="3200400" cy="4206240"/>
          </a:xfrm>
          <a:prstGeom prst="roundRect">
            <a:avLst>
              <a:gd name="adj" fmla="val 2857"/>
            </a:avLst>
          </a:prstGeom>
          <a:solidFill>
            <a:srgbClr val="223558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68680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Takeaways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641080" y="2487168"/>
            <a:ext cx="2834640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/>
        </p:spPr>
      </p:sp>
      <p:sp>
        <p:nvSpPr>
          <p:cNvPr id="55" name="Text 53"/>
          <p:cNvSpPr/>
          <p:nvPr/>
        </p:nvSpPr>
        <p:spPr>
          <a:xfrm>
            <a:off x="8732520" y="25328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098280" y="25328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Roast &amp; Brand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9098280" y="27614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beyond raw bean sales — roasting and branding capture 3–5× the margin of raw exports.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641080" y="3401568"/>
            <a:ext cx="2834640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/>
        </p:spPr>
      </p:sp>
      <p:sp>
        <p:nvSpPr>
          <p:cNvPr id="59" name="Text 57"/>
          <p:cNvSpPr/>
          <p:nvPr/>
        </p:nvSpPr>
        <p:spPr>
          <a:xfrm>
            <a:off x="8732520" y="34472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098280" y="34472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Shift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9098280" y="36758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coffee commands 200%+ premiums. Consumer willingness to pay continues to grow.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641080" y="4315968"/>
            <a:ext cx="2834640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/>
        </p:spPr>
      </p:sp>
      <p:sp>
        <p:nvSpPr>
          <p:cNvPr id="63" name="Text 61"/>
          <p:cNvSpPr/>
          <p:nvPr/>
        </p:nvSpPr>
        <p:spPr>
          <a:xfrm>
            <a:off x="8732520" y="43616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098280" y="43616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Integration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9098280" y="45902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Farm-to-cup models reduce intermediary costs and create defensible brand equity.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641080" y="5230368"/>
            <a:ext cx="2834640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/>
        </p:spPr>
      </p:sp>
      <p:sp>
        <p:nvSpPr>
          <p:cNvPr id="67" name="Text 65"/>
          <p:cNvSpPr/>
          <p:nvPr/>
        </p:nvSpPr>
        <p:spPr>
          <a:xfrm>
            <a:off x="8732520" y="52760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♻️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098280" y="52760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Premium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098280" y="55046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Fair-trade and organic certifications unlock 15–30% price premiums with growing demand.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42035"/>
          </a:solidFill>
          <a:ln/>
        </p:spPr>
      </p:sp>
      <p:sp>
        <p:nvSpPr>
          <p:cNvPr id="71" name="Text 69"/>
          <p:cNvSpPr/>
          <p:nvPr/>
        </p:nvSpPr>
        <p:spPr>
          <a:xfrm>
            <a:off x="502920" y="6446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 |  Market Analysis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400800" y="6446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ICO, IBISWorld, Statista, McKinsey  •  2024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2026-04-03T21:57:04Z</dcterms:created>
  <dcterms:modified xsi:type="dcterms:W3CDTF">2026-04-03T21:57:04Z</dcterms:modified>
</cp:coreProperties>
</file>