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Beans: A Profitable Business Opportunity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Drivers &amp; Market Dynamics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91672" cy="27432"/>
          </a:xfrm>
          <a:prstGeom prst="rect">
            <a:avLst/>
          </a:prstGeom>
          <a:solidFill>
            <a:srgbClr val="007B8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0A3A5C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 Wholesale Distribution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roasted beans to cafés, restaurants &amp; retailers — recurring B2B contracts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72968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Direct-to-Consumer (DTC)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subscriptions &amp; branded retail bags with 60-70% gross margins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831336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Specialty &amp; Single-Origin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pricing ($18-$30/lb) for traceable, high-quality micro-lots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489704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 Private Label / White Label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 &amp; package under other brands — low CAC, high volume scalability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468112" cy="1554480"/>
          </a:xfrm>
          <a:prstGeom prst="roundRect">
            <a:avLst>
              <a:gd name="adj" fmla="val 5882"/>
            </a:avLst>
          </a:prstGeom>
          <a:solidFill>
            <a:srgbClr val="0A3A5C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920240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Market Snapshot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35915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(2024)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46920" y="2359152"/>
            <a:ext cx="1719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$132B+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267919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(2024–2030)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46920" y="2679192"/>
            <a:ext cx="1719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~5.4%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99923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Segment Growth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46920" y="2999232"/>
            <a:ext cx="1719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~12% YoY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3566160"/>
            <a:ext cx="5468112" cy="1554480"/>
          </a:xfrm>
          <a:prstGeom prst="roundRect">
            <a:avLst>
              <a:gd name="adj" fmla="val 5882"/>
            </a:avLst>
          </a:prstGeom>
          <a:solidFill>
            <a:srgbClr val="0A3A5C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3639312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Potential by Channel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096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66760" y="4151376"/>
            <a:ext cx="2560320" cy="164592"/>
          </a:xfrm>
          <a:prstGeom prst="roundRect">
            <a:avLst>
              <a:gd name="adj" fmla="val 27778"/>
            </a:avLst>
          </a:prstGeom>
          <a:solidFill>
            <a:srgbClr val="1A4A6C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4151376"/>
            <a:ext cx="640080" cy="164592"/>
          </a:xfrm>
          <a:prstGeom prst="roundRect">
            <a:avLst>
              <a:gd name="adj" fmla="val 27778"/>
            </a:avLst>
          </a:prstGeom>
          <a:solidFill>
            <a:srgbClr val="007B8A"/>
          </a:solidFill>
          <a:ln/>
        </p:spPr>
      </p:sp>
      <p:sp>
        <p:nvSpPr>
          <p:cNvPr id="26" name="Text 24"/>
          <p:cNvSpPr/>
          <p:nvPr/>
        </p:nvSpPr>
        <p:spPr>
          <a:xfrm>
            <a:off x="11018520" y="4096512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4416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 / Subscription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66760" y="4471416"/>
            <a:ext cx="2560320" cy="164592"/>
          </a:xfrm>
          <a:prstGeom prst="roundRect">
            <a:avLst>
              <a:gd name="adj" fmla="val 27778"/>
            </a:avLst>
          </a:prstGeom>
          <a:solidFill>
            <a:srgbClr val="1A4A6C"/>
          </a:solidFill>
          <a:ln/>
        </p:spPr>
      </p:sp>
      <p:sp>
        <p:nvSpPr>
          <p:cNvPr id="29" name="Shape 27"/>
          <p:cNvSpPr/>
          <p:nvPr/>
        </p:nvSpPr>
        <p:spPr>
          <a:xfrm>
            <a:off x="8366760" y="4471416"/>
            <a:ext cx="1664208" cy="164592"/>
          </a:xfrm>
          <a:prstGeom prst="roundRect">
            <a:avLst>
              <a:gd name="adj" fmla="val 27778"/>
            </a:avLst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11018520" y="4416552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4736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366760" y="4791456"/>
            <a:ext cx="2560320" cy="164592"/>
          </a:xfrm>
          <a:prstGeom prst="roundRect">
            <a:avLst>
              <a:gd name="adj" fmla="val 27778"/>
            </a:avLst>
          </a:prstGeom>
          <a:solidFill>
            <a:srgbClr val="1A4A6C"/>
          </a:solidFill>
          <a:ln/>
        </p:spPr>
      </p:sp>
      <p:sp>
        <p:nvSpPr>
          <p:cNvPr id="33" name="Shape 31"/>
          <p:cNvSpPr/>
          <p:nvPr/>
        </p:nvSpPr>
        <p:spPr>
          <a:xfrm>
            <a:off x="8366760" y="4791456"/>
            <a:ext cx="896112" cy="164592"/>
          </a:xfrm>
          <a:prstGeom prst="roundRect">
            <a:avLst>
              <a:gd name="adj" fmla="val 27778"/>
            </a:avLst>
          </a:prstGeom>
          <a:solidFill>
            <a:srgbClr val="5D4037"/>
          </a:solidFill>
          <a:ln/>
        </p:spPr>
      </p:sp>
      <p:sp>
        <p:nvSpPr>
          <p:cNvPr id="34" name="Text 32"/>
          <p:cNvSpPr/>
          <p:nvPr/>
        </p:nvSpPr>
        <p:spPr>
          <a:xfrm>
            <a:off x="11018520" y="4736592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07B8A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39496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beans offer compounding margins — start wholesale for volume, layer DTC subscriptions for margin, and add specialty/single-origin for brand premium. The $132B market is growing, with specialty outpacing commodity 2:1.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ICO, IBISWorld, Statista 2024  |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2026-04-03T21:51:07Z</dcterms:created>
  <dcterms:modified xsi:type="dcterms:W3CDTF">2026-04-03T21:51:07Z</dcterms:modified>
</cp:coreProperties>
</file>