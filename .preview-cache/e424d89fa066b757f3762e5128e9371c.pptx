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Q1 2024 Revenue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B4C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Year-over-year analysis by product line with monthly trend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86800" y="137160"/>
            <a:ext cx="3108960" cy="777240"/>
          </a:xfrm>
          <a:prstGeom prst="rect">
            <a:avLst>
              <a:gd name="adj" fmla="val 9412"/>
            </a:avLst>
          </a:prstGeom>
          <a:solidFill>
            <a:srgbClr val="E56910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0" y="10972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$2.5M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686800" y="5486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7D2B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Total Revenue  ▲ 25% YoY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280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REVENUE BY PRODUCT LINE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4937760" cy="1417320"/>
          </a:xfrm>
          <a:prstGeom prst="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BFD0D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664208"/>
            <a:ext cx="73152" cy="1417320"/>
          </a:xfrm>
          <a:prstGeom prst="rect">
            <a:avLst>
              <a:gd name="adj" fmla="val 50000"/>
            </a:avLst>
          </a:prstGeom>
          <a:solidFill>
            <a:srgbClr val="00446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77393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20482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Large accounts &amp; strategic partnerships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17556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$1.2M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37560" y="21671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48% of total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505456"/>
            <a:ext cx="4480560" cy="320040"/>
          </a:xfrm>
          <a:prstGeom prst="rect">
            <a:avLst>
              <a:gd name="adj" fmla="val 11429"/>
            </a:avLst>
          </a:prstGeom>
          <a:solidFill>
            <a:srgbClr val="E0E9ED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505456"/>
            <a:ext cx="2150669" cy="320040"/>
          </a:xfrm>
          <a:prstGeom prst="rect">
            <a:avLst>
              <a:gd name="adj" fmla="val 11429"/>
            </a:avLst>
          </a:prstGeom>
          <a:solidFill>
            <a:srgbClr val="00446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50545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48%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264408"/>
            <a:ext cx="4937760" cy="1417320"/>
          </a:xfrm>
          <a:prstGeom prst="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BFD0D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264408"/>
            <a:ext cx="73152" cy="1417320"/>
          </a:xfrm>
          <a:prstGeom prst="rect">
            <a:avLst>
              <a:gd name="adj" fmla="val 50000"/>
            </a:avLst>
          </a:prstGeom>
          <a:solidFill>
            <a:srgbClr val="E5691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37413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SMB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36484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Small &amp; medium business segment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33558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$800K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337560" y="37673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32% of total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105656"/>
            <a:ext cx="4480560" cy="320040"/>
          </a:xfrm>
          <a:prstGeom prst="rect">
            <a:avLst>
              <a:gd name="adj" fmla="val 11429"/>
            </a:avLst>
          </a:prstGeom>
          <a:solidFill>
            <a:srgbClr val="FCEDE2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105656"/>
            <a:ext cx="1433779" cy="320040"/>
          </a:xfrm>
          <a:prstGeom prst="rect">
            <a:avLst>
              <a:gd name="adj" fmla="val 11429"/>
            </a:avLst>
          </a:prstGeom>
          <a:solidFill>
            <a:srgbClr val="E5691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10565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32%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" y="4864608"/>
            <a:ext cx="4937760" cy="1417320"/>
          </a:xfrm>
          <a:prstGeom prst="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BFD0D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4864608"/>
            <a:ext cx="73152" cy="1417320"/>
          </a:xfrm>
          <a:prstGeom prst="rect">
            <a:avLst>
              <a:gd name="adj" fmla="val 50000"/>
            </a:avLst>
          </a:prstGeom>
          <a:solidFill>
            <a:srgbClr val="339966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97433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Consumer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8640" y="52486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Direct-to-consumer channels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37560" y="49560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$500K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3337560" y="53675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20% of total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5705856"/>
            <a:ext cx="4480560" cy="320040"/>
          </a:xfrm>
          <a:prstGeom prst="rect">
            <a:avLst>
              <a:gd name="adj" fmla="val 11429"/>
            </a:avLst>
          </a:prstGeom>
          <a:solidFill>
            <a:srgbClr val="E7F3ED"/>
          </a:solidFill>
          <a:ln/>
        </p:spPr>
      </p:sp>
      <p:sp>
        <p:nvSpPr>
          <p:cNvPr id="34" name="Shape 32"/>
          <p:cNvSpPr/>
          <p:nvPr/>
        </p:nvSpPr>
        <p:spPr>
          <a:xfrm>
            <a:off x="548640" y="5705856"/>
            <a:ext cx="896112" cy="320040"/>
          </a:xfrm>
          <a:prstGeom prst="rect">
            <a:avLst>
              <a:gd name="adj" fmla="val 11429"/>
            </a:avLst>
          </a:prstGeom>
          <a:solidFill>
            <a:srgbClr val="339966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570585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20%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577840" y="1280160"/>
            <a:ext cx="6263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MONTHLY REVENUE TREND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577840" y="1737360"/>
            <a:ext cx="6263640" cy="2743200"/>
          </a:xfrm>
          <a:prstGeom prst="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BFD0D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17920" y="3794760"/>
            <a:ext cx="5257800" cy="0"/>
          </a:xfrm>
          <a:prstGeom prst="line">
            <a:avLst/>
          </a:prstGeom>
          <a:noFill/>
          <a:ln w="6350">
            <a:solidFill>
              <a:srgbClr val="D9E3E9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5623560" y="3657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17920" y="3360420"/>
            <a:ext cx="5257800" cy="0"/>
          </a:xfrm>
          <a:prstGeom prst="line">
            <a:avLst/>
          </a:prstGeom>
          <a:noFill/>
          <a:ln w="6350">
            <a:solidFill>
              <a:srgbClr val="D9E3E9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5623560" y="32232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$250K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217920" y="2926080"/>
            <a:ext cx="5257800" cy="0"/>
          </a:xfrm>
          <a:prstGeom prst="line">
            <a:avLst/>
          </a:prstGeom>
          <a:noFill/>
          <a:ln w="6350">
            <a:solidFill>
              <a:srgbClr val="D9E3E9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5623560" y="27889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$500K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217920" y="2491740"/>
            <a:ext cx="5257800" cy="0"/>
          </a:xfrm>
          <a:prstGeom prst="line">
            <a:avLst/>
          </a:prstGeom>
          <a:noFill/>
          <a:ln w="6350">
            <a:solidFill>
              <a:srgbClr val="D9E3E9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5623560" y="23545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$750K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217920" y="2057400"/>
            <a:ext cx="5257800" cy="0"/>
          </a:xfrm>
          <a:prstGeom prst="line">
            <a:avLst/>
          </a:prstGeom>
          <a:noFill/>
          <a:ln w="6350">
            <a:solidFill>
              <a:srgbClr val="D9E3E9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5623560" y="1920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$1M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766560" y="2491740"/>
            <a:ext cx="1021080" cy="1303020"/>
          </a:xfrm>
          <a:prstGeom prst="rect">
            <a:avLst>
              <a:gd name="adj" fmla="val 4478"/>
            </a:avLst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812280" y="2528316"/>
            <a:ext cx="929640" cy="365760"/>
          </a:xfrm>
          <a:prstGeom prst="rect">
            <a:avLst>
              <a:gd name="adj" fmla="val 10000"/>
            </a:avLst>
          </a:prstGeom>
          <a:solidFill>
            <a:srgbClr val="40738F"/>
          </a:solidFill>
          <a:ln/>
        </p:spPr>
      </p:sp>
      <p:sp>
        <p:nvSpPr>
          <p:cNvPr id="50" name="Text 48"/>
          <p:cNvSpPr/>
          <p:nvPr/>
        </p:nvSpPr>
        <p:spPr>
          <a:xfrm>
            <a:off x="6492240" y="2144268"/>
            <a:ext cx="1569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$750K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492240" y="3867912"/>
            <a:ext cx="1569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January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336280" y="2318004"/>
            <a:ext cx="1021080" cy="1476756"/>
          </a:xfrm>
          <a:prstGeom prst="rect">
            <a:avLst>
              <a:gd name="adj" fmla="val 4478"/>
            </a:avLst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8382000" y="2354580"/>
            <a:ext cx="929640" cy="365760"/>
          </a:xfrm>
          <a:prstGeom prst="rect">
            <a:avLst>
              <a:gd name="adj" fmla="val 10000"/>
            </a:avLst>
          </a:prstGeom>
          <a:solidFill>
            <a:srgbClr val="40738F"/>
          </a:solidFill>
          <a:ln/>
        </p:spPr>
      </p:sp>
      <p:sp>
        <p:nvSpPr>
          <p:cNvPr id="54" name="Text 52"/>
          <p:cNvSpPr/>
          <p:nvPr/>
        </p:nvSpPr>
        <p:spPr>
          <a:xfrm>
            <a:off x="8061960" y="1970532"/>
            <a:ext cx="1569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$850K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8061960" y="3867912"/>
            <a:ext cx="1569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February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9906000" y="2231136"/>
            <a:ext cx="1021080" cy="1563624"/>
          </a:xfrm>
          <a:prstGeom prst="rect">
            <a:avLst>
              <a:gd name="adj" fmla="val 4478"/>
            </a:avLst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9951720" y="2267712"/>
            <a:ext cx="929640" cy="365760"/>
          </a:xfrm>
          <a:prstGeom prst="rect">
            <a:avLst>
              <a:gd name="adj" fmla="val 10000"/>
            </a:avLst>
          </a:prstGeom>
          <a:solidFill>
            <a:srgbClr val="40738F"/>
          </a:solidFill>
          <a:ln/>
        </p:spPr>
      </p:sp>
      <p:sp>
        <p:nvSpPr>
          <p:cNvPr id="58" name="Text 56"/>
          <p:cNvSpPr/>
          <p:nvPr/>
        </p:nvSpPr>
        <p:spPr>
          <a:xfrm>
            <a:off x="9631680" y="1883664"/>
            <a:ext cx="1569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$900K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9631680" y="3867912"/>
            <a:ext cx="1569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March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277100" y="2446020"/>
            <a:ext cx="3139440" cy="-260604"/>
          </a:xfrm>
          <a:prstGeom prst="line">
            <a:avLst/>
          </a:prstGeom>
          <a:noFill/>
          <a:ln w="31750">
            <a:solidFill>
              <a:srgbClr val="E56910"/>
            </a:solidFill>
            <a:prstDash val="dash"/>
          </a:ln>
        </p:spPr>
      </p:sp>
      <p:sp>
        <p:nvSpPr>
          <p:cNvPr id="61" name="Shape 59"/>
          <p:cNvSpPr/>
          <p:nvPr/>
        </p:nvSpPr>
        <p:spPr>
          <a:xfrm>
            <a:off x="5577840" y="4709160"/>
            <a:ext cx="6263640" cy="1417320"/>
          </a:xfrm>
          <a:prstGeom prst="rect">
            <a:avLst>
              <a:gd name="adj" fmla="val 3871"/>
            </a:avLst>
          </a:prstGeom>
          <a:solidFill>
            <a:srgbClr val="EFF7F3"/>
          </a:solidFill>
          <a:ln w="9525">
            <a:solidFill>
              <a:srgbClr val="99CCB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5577840" y="4709160"/>
            <a:ext cx="6263640" cy="54864"/>
          </a:xfrm>
          <a:prstGeom prst="rect">
            <a:avLst/>
          </a:prstGeom>
          <a:solidFill>
            <a:srgbClr val="339966"/>
          </a:solidFill>
          <a:ln/>
        </p:spPr>
      </p:sp>
      <p:sp>
        <p:nvSpPr>
          <p:cNvPr id="63" name="Text 61"/>
          <p:cNvSpPr/>
          <p:nvPr/>
        </p:nvSpPr>
        <p:spPr>
          <a:xfrm>
            <a:off x="5852160" y="48463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 25%</a:t>
            </a:r>
            <a:endParaRPr lang="en-US" sz="2800" dirty="0"/>
          </a:p>
        </p:txBody>
      </p:sp>
      <p:sp>
        <p:nvSpPr>
          <p:cNvPr id="64" name="Text 62"/>
          <p:cNvSpPr/>
          <p:nvPr/>
        </p:nvSpPr>
        <p:spPr>
          <a:xfrm>
            <a:off x="5852160" y="5303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Year-over-Year Growth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5852160" y="5577840"/>
            <a:ext cx="5715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+20% monthly acceleration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from Jan to Mar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320040" y="6537960"/>
            <a:ext cx="11521440" cy="0"/>
          </a:xfrm>
          <a:prstGeom prst="line">
            <a:avLst/>
          </a:prstGeom>
          <a:noFill/>
          <a:ln w="6350">
            <a:solidFill>
              <a:srgbClr val="BFD0D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004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Q1 2024 Financial Review  |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2026-04-06T18:56:17Z</dcterms:created>
  <dcterms:modified xsi:type="dcterms:W3CDTF">2026-04-06T18:56:17Z</dcterms:modified>
</cp:coreProperties>
</file>