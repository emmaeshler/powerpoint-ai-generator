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Core Differentiators Drive Measurable Project Efficiency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Pre-fabrication and BIM integration compound to eliminate delays and rework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820095" cy="0"/>
          </a:xfrm>
          <a:prstGeom prst="line">
            <a:avLst/>
          </a:prstGeom>
          <a:noFill/>
          <a:ln w="19050">
            <a:solidFill>
              <a:srgbClr val="1B6B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5212080" cy="1188720"/>
          </a:xfrm>
          <a:prstGeom prst="rect">
            <a:avLst/>
          </a:prstGeom>
          <a:solidFill>
            <a:srgbClr val="E8F4F6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25880"/>
            <a:ext cx="64008" cy="1188720"/>
          </a:xfrm>
          <a:prstGeom prst="rect">
            <a:avLst/>
          </a:prstGeom>
          <a:solidFill>
            <a:srgbClr val="1B6B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3990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160020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Reduction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325880"/>
            <a:ext cx="5212080" cy="1188720"/>
          </a:xfrm>
          <a:prstGeom prst="rect">
            <a:avLst/>
          </a:prstGeom>
          <a:solidFill>
            <a:srgbClr val="E8F4F6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325880"/>
            <a:ext cx="64008" cy="1188720"/>
          </a:xfrm>
          <a:prstGeom prst="rect">
            <a:avLst/>
          </a:prstGeom>
          <a:solidFill>
            <a:srgbClr val="1B6B7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39903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200" dirty="0"/>
          </a:p>
        </p:txBody>
      </p:sp>
      <p:sp>
        <p:nvSpPr>
          <p:cNvPr id="15" name="Text 11"/>
          <p:cNvSpPr/>
          <p:nvPr/>
        </p:nvSpPr>
        <p:spPr>
          <a:xfrm>
            <a:off x="717804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Elimination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560320"/>
            <a:ext cx="219456" cy="219456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2560320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85800" y="2880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85800" y="2880360"/>
            <a:ext cx="5212080" cy="457200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20" name="Text 14"/>
          <p:cNvSpPr/>
          <p:nvPr/>
        </p:nvSpPr>
        <p:spPr>
          <a:xfrm>
            <a:off x="96012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PRE-FABRICATION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960120" y="3474720"/>
            <a:ext cx="320040" cy="32004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351586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 assembly reduces on-site complexity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960120" y="3977640"/>
            <a:ext cx="320040" cy="32004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" y="401878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site prep compresses critical path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960120" y="4480560"/>
            <a:ext cx="320040" cy="32004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" y="4521708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1732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Weather-independent scheduling eliminates delays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263640" y="2880360"/>
            <a:ext cx="5212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263640" y="2880360"/>
            <a:ext cx="5212080" cy="457200"/>
          </a:xfrm>
          <a:prstGeom prst="rect">
            <a:avLst/>
          </a:prstGeom>
          <a:solidFill>
            <a:srgbClr val="1B6B7B"/>
          </a:solidFill>
          <a:ln/>
        </p:spPr>
      </p:sp>
      <p:sp>
        <p:nvSpPr>
          <p:cNvPr id="32" name="Text 23"/>
          <p:cNvSpPr/>
          <p:nvPr/>
        </p:nvSpPr>
        <p:spPr>
          <a:xfrm>
            <a:off x="6537960" y="2880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6537960" y="3474720"/>
            <a:ext cx="320040" cy="32004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9108" y="3515868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951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detection catches conflicts before build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6537960" y="3977640"/>
            <a:ext cx="320040" cy="32004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9108" y="4018788"/>
            <a:ext cx="237744" cy="23774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9516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coordination across all trades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537960" y="4480560"/>
            <a:ext cx="320040" cy="320040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9108" y="4521708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99516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QA validates before installation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685800" y="5440680"/>
            <a:ext cx="10820095" cy="36576"/>
          </a:xfrm>
          <a:prstGeom prst="rect">
            <a:avLst/>
          </a:prstGeom>
          <a:solidFill>
            <a:srgbClr val="E8610A"/>
          </a:solidFill>
          <a:ln/>
        </p:spPr>
      </p:sp>
      <p:sp>
        <p:nvSpPr>
          <p:cNvPr id="43" name="Shape 31"/>
          <p:cNvSpPr/>
          <p:nvPr/>
        </p:nvSpPr>
        <p:spPr>
          <a:xfrm>
            <a:off x="685800" y="5477256"/>
            <a:ext cx="10820095" cy="548640"/>
          </a:xfrm>
          <a:prstGeom prst="rect">
            <a:avLst/>
          </a:prstGeom>
          <a:solidFill>
            <a:srgbClr val="001B2E"/>
          </a:solidFill>
          <a:ln/>
        </p:spPr>
      </p:sp>
      <p:sp>
        <p:nvSpPr>
          <p:cNvPr id="44" name="Shape 32"/>
          <p:cNvSpPr/>
          <p:nvPr/>
        </p:nvSpPr>
        <p:spPr>
          <a:xfrm>
            <a:off x="685800" y="5477256"/>
            <a:ext cx="54864" cy="548640"/>
          </a:xfrm>
          <a:prstGeom prst="rect">
            <a:avLst/>
          </a:prstGeom>
          <a:solidFill>
            <a:srgbClr val="E8610A"/>
          </a:solidFill>
          <a:ln/>
        </p:spPr>
      </p:sp>
      <p:sp>
        <p:nvSpPr>
          <p:cNvPr id="45" name="Text 33"/>
          <p:cNvSpPr/>
          <p:nvPr/>
        </p:nvSpPr>
        <p:spPr>
          <a:xfrm>
            <a:off x="1005840" y="547725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fewer delays, lower cost overruns, and faster handover to operations — compounding into measurable project efficiency gains</a:t>
            </a:r>
            <a:endParaRPr lang="en-US" sz="1300" dirty="0"/>
          </a:p>
        </p:txBody>
      </p:sp>
      <p:sp>
        <p:nvSpPr>
          <p:cNvPr id="46" name="Shape 34"/>
          <p:cNvSpPr/>
          <p:nvPr/>
        </p:nvSpPr>
        <p:spPr>
          <a:xfrm>
            <a:off x="685800" y="6172200"/>
            <a:ext cx="10820095" cy="0"/>
          </a:xfrm>
          <a:prstGeom prst="line">
            <a:avLst/>
          </a:prstGeom>
          <a:noFill/>
          <a:ln w="6350">
            <a:solidFill>
              <a:srgbClr val="8A9BAE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685800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900" dirty="0"/>
          </a:p>
        </p:txBody>
      </p:sp>
      <p:sp>
        <p:nvSpPr>
          <p:cNvPr id="48" name="Text 36"/>
          <p:cNvSpPr/>
          <p:nvPr/>
        </p:nvSpPr>
        <p:spPr>
          <a:xfrm>
            <a:off x="10058400" y="6263640"/>
            <a:ext cx="1447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Differentiators Reference Slide</dc:title>
  <dc:subject>PptxGenJS Presentation</dc:subject>
  <dc:creator>Emma's PPT Generator — Reference</dc:creator>
  <cp:lastModifiedBy>Emma's PPT Generator — Reference</cp:lastModifiedBy>
  <cp:revision>1</cp:revision>
  <dcterms:created xsi:type="dcterms:W3CDTF">2026-03-31T15:55:03Z</dcterms:created>
  <dcterms:modified xsi:type="dcterms:W3CDTF">2026-03-31T15:55:03Z</dcterms:modified>
</cp:coreProperties>
</file>