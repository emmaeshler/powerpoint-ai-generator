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2860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Differentiators Compound Into Measurable Efficiency Gains</a:t>
            </a:r>
            <a:pPr algn="l" indent="0" marL="0">
              <a:buNone/>
            </a:pPr>
            <a:r>
              <a:rPr lang="en-US" sz="21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l" indent="0" marL="0">
              <a:buNone/>
            </a:pPr>
            <a:r>
              <a:rPr lang="en-US" sz="1500" i="1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eliminates a different source of project waste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85800" y="868680"/>
            <a:ext cx="10820095" cy="0"/>
          </a:xfrm>
          <a:prstGeom prst="line">
            <a:avLst/>
          </a:prstGeom>
          <a:noFill/>
          <a:ln w="15240">
            <a:solidFill>
              <a:srgbClr val="1B6B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987552"/>
            <a:ext cx="10820095" cy="475488"/>
          </a:xfrm>
          <a:prstGeom prst="rect">
            <a:avLst/>
          </a:prstGeom>
          <a:solidFill>
            <a:srgbClr val="FDF2EA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987552"/>
            <a:ext cx="45720" cy="475488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987552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algn="l" indent="0" marL="0">
              <a:buNone/>
            </a:pPr>
            <a:r>
              <a:rPr lang="en-US" sz="11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delays and construction rework are the two largest sources of project cost overruns — together accounting for up to 35% of total project waste. Each has a different root cause, and each requires a different solution.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1572768"/>
            <a:ext cx="5212080" cy="36576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63640" y="1572768"/>
            <a:ext cx="5212080" cy="3657600"/>
          </a:xfrm>
          <a:prstGeom prst="rect">
            <a:avLst/>
          </a:prstGeom>
          <a:solidFill>
            <a:srgbClr val="F5F7F8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1572768"/>
            <a:ext cx="5212080" cy="438912"/>
          </a:xfrm>
          <a:prstGeom prst="rect">
            <a:avLst/>
          </a:prstGeom>
          <a:solidFill>
            <a:srgbClr val="002F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727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PRE-FABRICATION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ELIMINATES DELAYS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2395728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414016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80160" y="2359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Off-site assembly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2560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built in factory while site prep runs in parallel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14400" y="2962656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98094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9260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280160" y="3127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Foundation, structure, and interiors manufactured simultaneously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914400" y="3529584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54787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280160" y="3493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independence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280160" y="36941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work continues regardless of site conditions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914400" y="4041648"/>
            <a:ext cx="4754880" cy="0"/>
          </a:xfrm>
          <a:prstGeom prst="line">
            <a:avLst/>
          </a:prstGeom>
          <a:noFill/>
          <a:ln w="12700">
            <a:solidFill>
              <a:srgbClr val="E0E7EC"/>
            </a:solidFill>
            <a:prstDash val="dash"/>
          </a:ln>
        </p:spPr>
      </p:sp>
      <p:sp>
        <p:nvSpPr>
          <p:cNvPr id="26" name="Text 21"/>
          <p:cNvSpPr/>
          <p:nvPr/>
        </p:nvSpPr>
        <p:spPr>
          <a:xfrm>
            <a:off x="914400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914400" y="4361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200" dirty="0"/>
          </a:p>
        </p:txBody>
      </p:sp>
      <p:sp>
        <p:nvSpPr>
          <p:cNvPr id="28" name="Text 23"/>
          <p:cNvSpPr/>
          <p:nvPr/>
        </p:nvSpPr>
        <p:spPr>
          <a:xfrm>
            <a:off x="2697480" y="4361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project timelines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traditional on-site construction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6263640" y="1572768"/>
            <a:ext cx="5212080" cy="438912"/>
          </a:xfrm>
          <a:prstGeom prst="rect">
            <a:avLst/>
          </a:prstGeom>
          <a:solidFill>
            <a:srgbClr val="1B6B7B"/>
          </a:solidFill>
          <a:ln/>
        </p:spPr>
      </p:sp>
      <p:sp>
        <p:nvSpPr>
          <p:cNvPr id="30" name="Text 25"/>
          <p:cNvSpPr/>
          <p:nvPr/>
        </p:nvSpPr>
        <p:spPr>
          <a:xfrm>
            <a:off x="6492240" y="15727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INTEGRATION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492240" y="2121408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1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ELIMINATES REWORK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6492240" y="2395728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414016"/>
            <a:ext cx="219456" cy="219456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858000" y="2359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 detection before build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858000" y="25603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identifies conflicts before a single piece is fabricated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492240" y="2962656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2980944"/>
            <a:ext cx="219456" cy="21945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58000" y="29260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coordination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6858000" y="312724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trades work from one live model — changes propagate instantly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6492240" y="3529584"/>
            <a:ext cx="256032" cy="256032"/>
          </a:xfrm>
          <a:prstGeom prst="ellipse">
            <a:avLst/>
          </a:prstGeom>
          <a:solidFill>
            <a:srgbClr val="1B6B7B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3547872"/>
            <a:ext cx="219456" cy="21945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858000" y="3493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 QA</a:t>
            </a:r>
            <a:endParaRPr lang="en-US" sz="1100" dirty="0"/>
          </a:p>
        </p:txBody>
      </p:sp>
      <p:sp>
        <p:nvSpPr>
          <p:cNvPr id="43" name="Text 35"/>
          <p:cNvSpPr/>
          <p:nvPr/>
        </p:nvSpPr>
        <p:spPr>
          <a:xfrm>
            <a:off x="6858000" y="369417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walkthrough validates every connection before installation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492240" y="4041648"/>
            <a:ext cx="4754880" cy="0"/>
          </a:xfrm>
          <a:prstGeom prst="line">
            <a:avLst/>
          </a:prstGeom>
          <a:noFill/>
          <a:ln w="12700">
            <a:solidFill>
              <a:srgbClr val="E0E7EC"/>
            </a:solidFill>
            <a:prstDash val="dash"/>
          </a:ln>
        </p:spPr>
      </p:sp>
      <p:sp>
        <p:nvSpPr>
          <p:cNvPr id="45" name="Text 37"/>
          <p:cNvSpPr/>
          <p:nvPr/>
        </p:nvSpPr>
        <p:spPr>
          <a:xfrm>
            <a:off x="6492240" y="415137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6492240" y="4361688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4200" dirty="0"/>
          </a:p>
        </p:txBody>
      </p:sp>
      <p:sp>
        <p:nvSpPr>
          <p:cNvPr id="47" name="Text 39"/>
          <p:cNvSpPr/>
          <p:nvPr/>
        </p:nvSpPr>
        <p:spPr>
          <a:xfrm>
            <a:off x="8275320" y="4361688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A4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change orders &amp; rework</a:t>
            </a:r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projects without BIM coordination</a:t>
            </a:r>
            <a:endParaRPr lang="en-US" sz="1300" dirty="0"/>
          </a:p>
        </p:txBody>
      </p:sp>
      <p:sp>
        <p:nvSpPr>
          <p:cNvPr id="48" name="Shape 40"/>
          <p:cNvSpPr/>
          <p:nvPr/>
        </p:nvSpPr>
        <p:spPr>
          <a:xfrm>
            <a:off x="685800" y="5376672"/>
            <a:ext cx="10820095" cy="36576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49" name="Shape 41"/>
          <p:cNvSpPr/>
          <p:nvPr/>
        </p:nvSpPr>
        <p:spPr>
          <a:xfrm>
            <a:off x="685800" y="5413248"/>
            <a:ext cx="10820095" cy="566928"/>
          </a:xfrm>
          <a:prstGeom prst="rect">
            <a:avLst/>
          </a:prstGeom>
          <a:solidFill>
            <a:srgbClr val="001B2E"/>
          </a:solidFill>
          <a:ln/>
        </p:spPr>
      </p:sp>
      <p:sp>
        <p:nvSpPr>
          <p:cNvPr id="50" name="Shape 42"/>
          <p:cNvSpPr/>
          <p:nvPr/>
        </p:nvSpPr>
        <p:spPr>
          <a:xfrm>
            <a:off x="685800" y="5413248"/>
            <a:ext cx="54864" cy="566928"/>
          </a:xfrm>
          <a:prstGeom prst="rect">
            <a:avLst/>
          </a:prstGeom>
          <a:solidFill>
            <a:srgbClr val="E8610A"/>
          </a:solidFill>
          <a:ln/>
        </p:spPr>
      </p:sp>
      <p:sp>
        <p:nvSpPr>
          <p:cNvPr id="51" name="Text 43"/>
          <p:cNvSpPr/>
          <p:nvPr/>
        </p:nvSpPr>
        <p:spPr>
          <a:xfrm>
            <a:off x="1005840" y="5413248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6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effect: 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Pre-fab eliminates schedule waste while BIM eliminates rework waste — together they remove the two largest sources of cost overruns, compressing timelines and budgets simultaneously.</a:t>
            </a:r>
            <a:endParaRPr lang="en-US" sz="1300" dirty="0"/>
          </a:p>
        </p:txBody>
      </p:sp>
      <p:sp>
        <p:nvSpPr>
          <p:cNvPr id="52" name="Shape 44"/>
          <p:cNvSpPr/>
          <p:nvPr/>
        </p:nvSpPr>
        <p:spPr>
          <a:xfrm>
            <a:off x="685800" y="6144768"/>
            <a:ext cx="10820095" cy="0"/>
          </a:xfrm>
          <a:prstGeom prst="line">
            <a:avLst/>
          </a:prstGeom>
          <a:noFill/>
          <a:ln w="6350">
            <a:solidFill>
              <a:srgbClr val="8A9BAE"/>
            </a:solidFill>
            <a:prstDash val="solid"/>
          </a:ln>
        </p:spPr>
      </p:sp>
      <p:sp>
        <p:nvSpPr>
          <p:cNvPr id="53" name="Text 45"/>
          <p:cNvSpPr/>
          <p:nvPr/>
        </p:nvSpPr>
        <p:spPr>
          <a:xfrm>
            <a:off x="685800" y="6236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INSIGHT2PROFIT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058400" y="6236208"/>
            <a:ext cx="1447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Differentiators — How They Drive Efficiency</dc:title>
  <dc:subject>PptxGenJS Presentation</dc:subject>
  <dc:creator>Emma's PPT Generator — Reference v2</dc:creator>
  <cp:lastModifiedBy>Emma's PPT Generator — Reference v2</cp:lastModifiedBy>
  <cp:revision>1</cp:revision>
  <dcterms:created xsi:type="dcterms:W3CDTF">2026-03-31T16:01:01Z</dcterms:created>
  <dcterms:modified xsi:type="dcterms:W3CDTF">2026-03-31T16:01:01Z</dcterms:modified>
</cp:coreProperties>
</file>