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2F4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2860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Differentiators Compound Into Measurable Efficiency Gains</a:t>
            </a:r>
            <a:pPr algn="l" indent="0" marL="0">
              <a:buNone/>
            </a:pPr>
            <a:r>
              <a:rPr lang="en-US" sz="21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l" indent="0" marL="0">
              <a:buNone/>
            </a:pPr>
            <a:r>
              <a:rPr lang="en-US" sz="15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capability eliminates a different source of project waste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10820095" cy="0"/>
          </a:xfrm>
          <a:prstGeom prst="line">
            <a:avLst/>
          </a:prstGeom>
          <a:noFill/>
          <a:ln w="15240">
            <a:solidFill>
              <a:srgbClr val="1B6B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051560"/>
            <a:ext cx="5212080" cy="4160520"/>
          </a:xfrm>
          <a:prstGeom prst="rect">
            <a:avLst/>
          </a:prstGeom>
          <a:solidFill>
            <a:srgbClr val="F5F7F8"/>
          </a:solidFill>
          <a:ln/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63640" y="1051560"/>
            <a:ext cx="5212080" cy="4160520"/>
          </a:xfrm>
          <a:prstGeom prst="rect">
            <a:avLst/>
          </a:prstGeom>
          <a:solidFill>
            <a:srgbClr val="F5F7F8"/>
          </a:solidFill>
          <a:ln/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051560"/>
            <a:ext cx="5212080" cy="438912"/>
          </a:xfrm>
          <a:prstGeom prst="rect">
            <a:avLst/>
          </a:prstGeom>
          <a:solidFill>
            <a:srgbClr val="002F4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05156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PRE-FABRICATION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ELIMINATES DELAYS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1984248"/>
            <a:ext cx="274320" cy="274320"/>
          </a:xfrm>
          <a:prstGeom prst="ellipse">
            <a:avLst/>
          </a:prstGeom>
          <a:solidFill>
            <a:srgbClr val="1B6B7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007108"/>
            <a:ext cx="228600" cy="228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19659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Off-site assembly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325880" y="21945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built in controlled factory conditions while site prep runs in parallel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914400" y="2697480"/>
            <a:ext cx="274320" cy="274320"/>
          </a:xfrm>
          <a:prstGeom prst="ellipse">
            <a:avLst/>
          </a:prstGeom>
          <a:solidFill>
            <a:srgbClr val="1B6B7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272034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25880" y="26791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workstreams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325880" y="290779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Foundation, structure, and interior systems manufactured simultaneously — not sequentially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914400" y="3410712"/>
            <a:ext cx="274320" cy="274320"/>
          </a:xfrm>
          <a:prstGeom prst="ellipse">
            <a:avLst/>
          </a:prstGeom>
          <a:solidFill>
            <a:srgbClr val="1B6B7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433572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339242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independence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325880" y="36210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work continues regardless of site conditions, eliminating seasonal schedule risk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914400" y="3977640"/>
            <a:ext cx="4754880" cy="0"/>
          </a:xfrm>
          <a:prstGeom prst="line">
            <a:avLst/>
          </a:prstGeom>
          <a:noFill/>
          <a:ln w="12700">
            <a:solidFill>
              <a:srgbClr val="E0E7EC"/>
            </a:solidFill>
            <a:prstDash val="dash"/>
          </a:ln>
        </p:spPr>
      </p:sp>
      <p:sp>
        <p:nvSpPr>
          <p:cNvPr id="23" name="Text 18"/>
          <p:cNvSpPr/>
          <p:nvPr/>
        </p:nvSpPr>
        <p:spPr>
          <a:xfrm>
            <a:off x="914400" y="4087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E8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914400" y="4297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800" dirty="0"/>
          </a:p>
        </p:txBody>
      </p:sp>
      <p:sp>
        <p:nvSpPr>
          <p:cNvPr id="25" name="Text 20"/>
          <p:cNvSpPr/>
          <p:nvPr/>
        </p:nvSpPr>
        <p:spPr>
          <a:xfrm>
            <a:off x="2697480" y="42976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project timelines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traditional on-site construction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263640" y="1051560"/>
            <a:ext cx="5212080" cy="438912"/>
          </a:xfrm>
          <a:prstGeom prst="rect">
            <a:avLst/>
          </a:prstGeom>
          <a:solidFill>
            <a:srgbClr val="1B6B7B"/>
          </a:solidFill>
          <a:ln/>
        </p:spPr>
      </p:sp>
      <p:sp>
        <p:nvSpPr>
          <p:cNvPr id="27" name="Text 22"/>
          <p:cNvSpPr/>
          <p:nvPr/>
        </p:nvSpPr>
        <p:spPr>
          <a:xfrm>
            <a:off x="6492240" y="105156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INTEGRATION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492240" y="16459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ELIMINATES REWORK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492240" y="1984248"/>
            <a:ext cx="274320" cy="274320"/>
          </a:xfrm>
          <a:prstGeom prst="ellipse">
            <a:avLst/>
          </a:prstGeom>
          <a:solidFill>
            <a:srgbClr val="1B6B7B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2007108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903720" y="19659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 detection before build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6903720" y="21945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model identifies pipe/duct/structural conflicts before a single piece is fabricated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492240" y="2697480"/>
            <a:ext cx="274320" cy="274320"/>
          </a:xfrm>
          <a:prstGeom prst="ellipse">
            <a:avLst/>
          </a:prstGeom>
          <a:solidFill>
            <a:srgbClr val="1B6B7B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2720340"/>
            <a:ext cx="228600" cy="2286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903720" y="26791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coordination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6903720" y="290779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trades work from one live model — changes propagate instantly, no version mismatches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6492240" y="3410712"/>
            <a:ext cx="274320" cy="274320"/>
          </a:xfrm>
          <a:prstGeom prst="ellipse">
            <a:avLst/>
          </a:prstGeom>
          <a:solidFill>
            <a:srgbClr val="1B6B7B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3433572"/>
            <a:ext cx="228600" cy="22860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903720" y="339242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QA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6903720" y="36210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walkthrough validates every connection point before physical installation begins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6492240" y="3977640"/>
            <a:ext cx="4754880" cy="0"/>
          </a:xfrm>
          <a:prstGeom prst="line">
            <a:avLst/>
          </a:prstGeom>
          <a:noFill/>
          <a:ln w="12700">
            <a:solidFill>
              <a:srgbClr val="E0E7EC"/>
            </a:solidFill>
            <a:prstDash val="dash"/>
          </a:ln>
        </p:spPr>
      </p:sp>
      <p:sp>
        <p:nvSpPr>
          <p:cNvPr id="42" name="Text 34"/>
          <p:cNvSpPr/>
          <p:nvPr/>
        </p:nvSpPr>
        <p:spPr>
          <a:xfrm>
            <a:off x="6492240" y="4087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E8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6492240" y="4297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800" dirty="0"/>
          </a:p>
        </p:txBody>
      </p:sp>
      <p:sp>
        <p:nvSpPr>
          <p:cNvPr id="44" name="Text 36"/>
          <p:cNvSpPr/>
          <p:nvPr/>
        </p:nvSpPr>
        <p:spPr>
          <a:xfrm>
            <a:off x="8275320" y="42976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change orders &amp; rework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projects without BIM coordination</a:t>
            </a:r>
            <a:endParaRPr lang="en-US" sz="1300" dirty="0"/>
          </a:p>
        </p:txBody>
      </p:sp>
      <p:sp>
        <p:nvSpPr>
          <p:cNvPr id="45" name="Shape 37"/>
          <p:cNvSpPr/>
          <p:nvPr/>
        </p:nvSpPr>
        <p:spPr>
          <a:xfrm>
            <a:off x="685800" y="5376672"/>
            <a:ext cx="10820095" cy="36576"/>
          </a:xfrm>
          <a:prstGeom prst="rect">
            <a:avLst/>
          </a:prstGeom>
          <a:solidFill>
            <a:srgbClr val="E8610A"/>
          </a:solidFill>
          <a:ln/>
        </p:spPr>
      </p:sp>
      <p:sp>
        <p:nvSpPr>
          <p:cNvPr id="46" name="Shape 38"/>
          <p:cNvSpPr/>
          <p:nvPr/>
        </p:nvSpPr>
        <p:spPr>
          <a:xfrm>
            <a:off x="685800" y="5413248"/>
            <a:ext cx="10820095" cy="566928"/>
          </a:xfrm>
          <a:prstGeom prst="rect">
            <a:avLst/>
          </a:prstGeom>
          <a:solidFill>
            <a:srgbClr val="001B2E"/>
          </a:solidFill>
          <a:ln/>
        </p:spPr>
      </p:sp>
      <p:sp>
        <p:nvSpPr>
          <p:cNvPr id="47" name="Shape 39"/>
          <p:cNvSpPr/>
          <p:nvPr/>
        </p:nvSpPr>
        <p:spPr>
          <a:xfrm>
            <a:off x="685800" y="5413248"/>
            <a:ext cx="54864" cy="566928"/>
          </a:xfrm>
          <a:prstGeom prst="rect">
            <a:avLst/>
          </a:prstGeom>
          <a:solidFill>
            <a:srgbClr val="E8610A"/>
          </a:solidFill>
          <a:ln/>
        </p:spPr>
      </p:sp>
      <p:sp>
        <p:nvSpPr>
          <p:cNvPr id="48" name="Text 40"/>
          <p:cNvSpPr/>
          <p:nvPr/>
        </p:nvSpPr>
        <p:spPr>
          <a:xfrm>
            <a:off x="1005840" y="54132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effect: 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Pre-fab eliminates schedule waste while BIM eliminates rework waste — together they remove the two largest sources of cost overruns, compressing timelines and budgets simultaneously.</a:t>
            </a:r>
            <a:endParaRPr lang="en-US" sz="1300" dirty="0"/>
          </a:p>
        </p:txBody>
      </p:sp>
      <p:sp>
        <p:nvSpPr>
          <p:cNvPr id="49" name="Shape 41"/>
          <p:cNvSpPr/>
          <p:nvPr/>
        </p:nvSpPr>
        <p:spPr>
          <a:xfrm>
            <a:off x="685800" y="6144768"/>
            <a:ext cx="10820095" cy="0"/>
          </a:xfrm>
          <a:prstGeom prst="line">
            <a:avLst/>
          </a:prstGeom>
          <a:noFill/>
          <a:ln w="6350">
            <a:solidFill>
              <a:srgbClr val="8A9BAE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685800" y="6236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10058400" y="6236208"/>
            <a:ext cx="1447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Differentiators — How They Drive Efficiency</dc:title>
  <dc:subject>PptxGenJS Presentation</dc:subject>
  <dc:creator>Emma's PPT Generator — Reference v2</dc:creator>
  <cp:lastModifiedBy>Emma's PPT Generator — Reference v2</cp:lastModifiedBy>
  <cp:revision>1</cp:revision>
  <dcterms:created xsi:type="dcterms:W3CDTF">2026-03-31T15:58:22Z</dcterms:created>
  <dcterms:modified xsi:type="dcterms:W3CDTF">2026-03-31T15:58:22Z</dcterms:modified>
</cp:coreProperties>
</file>