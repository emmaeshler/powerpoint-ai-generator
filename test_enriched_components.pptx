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26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Capabilities Compound Into Measurable Margin Recovery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eliminates a different source of margin leakage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solidFill>
            <a:srgbClr val="FDF2E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48640"/>
          </a:xfrm>
          <a:prstGeom prst="rect">
            <a:avLst/>
          </a:prstGeom>
          <a:solidFill>
            <a:srgbClr val="D262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10957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buNone/>
            </a:pPr>
            <a:r>
              <a:rPr lang="en-US" sz="11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leave 2-5% of EBITDA on the table through a combination of underpriced accounts and unoptimized procurement costs. These two sources of leakage have different root causes and require different analytical approaches to solve.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01488" cy="96012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550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550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Recovery Per 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550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$47M avg. client revenue 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3008" y="1737360"/>
            <a:ext cx="5501488" cy="96012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233008" y="1783080"/>
            <a:ext cx="550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33008" y="2240280"/>
            <a:ext cx="550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Procurement Cost Reduction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008" y="2423160"/>
            <a:ext cx="550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$120M avg. spend under management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550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RECOVERS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5501488" cy="457200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23260"/>
            <a:ext cx="320040" cy="3200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232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1546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Analytics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5501488" cy="2377440"/>
          </a:xfrm>
          <a:prstGeom prst="rect">
            <a:avLst/>
          </a:prstGeom>
          <a:solidFill>
            <a:srgbClr val="EAEDF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721608"/>
            <a:ext cx="517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922776"/>
            <a:ext cx="517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every invoice line to find accounts priced below optimal thresholds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4270248"/>
            <a:ext cx="517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Willingness-to-Pay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4471416"/>
            <a:ext cx="517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identify which accounts can absorb increases without churn risk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4818888"/>
            <a:ext cx="517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5020056"/>
            <a:ext cx="517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price gaps against market benchmarks to prioritize highest-value corrections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5413248"/>
            <a:ext cx="5227168" cy="0"/>
          </a:xfrm>
          <a:prstGeom prst="line">
            <a:avLst/>
          </a:prstGeom>
          <a:noFill/>
          <a:ln w="6350">
            <a:solidFill>
              <a:srgbClr val="6B7A8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21792" y="5522976"/>
            <a:ext cx="517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" y="5687568"/>
            <a:ext cx="517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 avg. recovered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792" y="5934456"/>
            <a:ext cx="517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 from underpriced accounts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33008" y="2880360"/>
            <a:ext cx="550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ELIMINATES WASTE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33008" y="3154680"/>
            <a:ext cx="5501488" cy="457200"/>
          </a:xfrm>
          <a:prstGeom prst="rect">
            <a:avLst/>
          </a:prstGeom>
          <a:solidFill>
            <a:srgbClr val="1B6B7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4448" y="3223260"/>
            <a:ext cx="320040" cy="3200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24448" y="32232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35928" y="31546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33008" y="3611880"/>
            <a:ext cx="5501488" cy="2377440"/>
          </a:xfrm>
          <a:prstGeom prst="rect">
            <a:avLst/>
          </a:prstGeom>
          <a:solidFill>
            <a:srgbClr val="EAEDF2"/>
          </a:solidFill>
          <a:ln/>
        </p:spPr>
      </p:sp>
      <p:sp>
        <p:nvSpPr>
          <p:cNvPr id="38" name="Text 36"/>
          <p:cNvSpPr/>
          <p:nvPr/>
        </p:nvSpPr>
        <p:spPr>
          <a:xfrm>
            <a:off x="6397600" y="3721608"/>
            <a:ext cx="517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Decomposition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97600" y="3922776"/>
            <a:ext cx="517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total procurement into 200+ cost categories to find hidden savings pools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97600" y="4270248"/>
            <a:ext cx="517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Benchmarking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97600" y="4471416"/>
            <a:ext cx="517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unit costs against market rates and peer pricing across every category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97600" y="4818888"/>
            <a:ext cx="517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Renegotiation Playbook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97600" y="5020056"/>
            <a:ext cx="517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suppliers by savings potential and generates fact-based negotiation briefs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70168" y="5413248"/>
            <a:ext cx="5227168" cy="0"/>
          </a:xfrm>
          <a:prstGeom prst="line">
            <a:avLst/>
          </a:prstGeom>
          <a:noFill/>
          <a:ln w="6350">
            <a:solidFill>
              <a:srgbClr val="6B7A8D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397600" y="5522976"/>
            <a:ext cx="517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97600" y="5687568"/>
            <a:ext cx="517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avg. cost reduction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397600" y="5934456"/>
            <a:ext cx="517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$120M avg. spend under management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6080760"/>
            <a:ext cx="11277295" cy="36576"/>
          </a:xfrm>
          <a:prstGeom prst="rect">
            <a:avLst/>
          </a:prstGeom>
          <a:solidFill>
            <a:srgbClr val="D2622A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6117336"/>
            <a:ext cx="11277295" cy="466344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6117336"/>
            <a:ext cx="54864" cy="466344"/>
          </a:xfrm>
          <a:prstGeom prst="rect">
            <a:avLst/>
          </a:prstGeom>
          <a:solidFill>
            <a:srgbClr val="D2622A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6117336"/>
            <a:ext cx="1086581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Analytics recovers revenue leakage while Cost Optimization eliminates procurement waste — together they attack both sides of the P&amp;L, compounding into 3-5% EBITDA improvement that neither capability achieves alone.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905695" y="6583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Core Capabilities</dc:title>
  <dc:subject>PptxGenJS Presentation</dc:subject>
  <dc:creator>INSIGHT2PROFIT</dc:creator>
  <cp:lastModifiedBy>INSIGHT2PROFIT</cp:lastModifiedBy>
  <cp:revision>1</cp:revision>
  <dcterms:created xsi:type="dcterms:W3CDTF">2026-03-31T17:25:14Z</dcterms:created>
  <dcterms:modified xsi:type="dcterms:W3CDTF">2026-03-31T17:25:14Z</dcterms:modified>
</cp:coreProperties>
</file>